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shows the second part of my relational schema. These tables handle the actual membership status and gym activity.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Membership table connects a member to a plan. It stores the MemberID, the PlanID, and the member’s status. The status can only be ACTIVE, EXPIRED, or CANCELLED because I added a check constraint. This keeps the data consistent.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CheckIn table records when a member enters the gym. Each check-in has a CheckInID, a MemberID, a GymID, and a timestamp. The MemberID connects the check-in to the member, and the GymID connects it to the gym location.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trigger is the main business rule on this slide. Before a check-in is inserted, the trigger checks the Membership table to see if the member has an active membership. If the member is expired or cancelled, the trigger blocks the check-in.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also used loops to meet the data requirement. The database has 102 members, 102 memberships, and 112 check-ins, so it meets the 100 plus row requirement.</a:t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adb04ef7c_0_2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dadb04ef7c_0_2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dadb04ef7c_0_2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aebd824ff_18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daebd824ff_18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daebd824ff_18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adb04ef7c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dadb04ef7c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dadb04ef7c_0_1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adb04ef7c_0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dadb04ef7c_0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dadb04ef7c_0_1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0292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Georgia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Gym Membership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02920" y="1078992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5400"/>
              <a:buFont typeface="Georgia"/>
              <a:buNone/>
            </a:pPr>
            <a:r>
              <a:rPr b="1" i="0" lang="en-US" sz="5400" u="none" cap="none" strike="noStrik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System Database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Picture_of_Grace.jpe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578608"/>
            <a:ext cx="1371600" cy="1371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274320" y="400507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Grace Okoro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Screenshot_2026-04-27_at_3_31_54_AM-Picsart-BackgroundRemover_270deg.png" id="21" name="Google Shape;2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7440" y="2578608"/>
            <a:ext cx="1371600" cy="1371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2103120" y="400507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Amrita Penke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114800" y="2578608"/>
            <a:ext cx="36576" cy="1737360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389120" y="2578608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4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atabase that models how a gym manages members, memberships, and check-in activity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65760" y="164592"/>
            <a:ext cx="64008" cy="64008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54864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Introduction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62325" y="1576750"/>
            <a:ext cx="7589400" cy="20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project is a gym membership database inspired by Planet Fitness. The goal was to model how a gym stores member information, membership plans, and check-in activity in a database system.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35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35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tracks five main things: gym locations, members, membership plans, membership records, and check-in events. Everything is connected through foreign keys so the data stays organized and consistent.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35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365760" y="164592"/>
            <a:ext cx="64008" cy="64008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54864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ER Diagram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365760" y="1143000"/>
            <a:ext cx="8412600" cy="37491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" name="Google Shape;41;p5" title="Untitled Diagram.drawio.png"/>
          <p:cNvPicPr preferRelativeResize="0"/>
          <p:nvPr/>
        </p:nvPicPr>
        <p:blipFill rotWithShape="1">
          <a:blip r:embed="rId3">
            <a:alphaModFix/>
          </a:blip>
          <a:srcRect b="37912" l="0" r="38946" t="1437"/>
          <a:stretch/>
        </p:blipFill>
        <p:spPr>
          <a:xfrm>
            <a:off x="365737" y="1133850"/>
            <a:ext cx="5832271" cy="37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/>
          <p:nvPr/>
        </p:nvSpPr>
        <p:spPr>
          <a:xfrm>
            <a:off x="6361150" y="1310200"/>
            <a:ext cx="24171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There are five main tables: GymLocation, Member, Plan, Membership, and CheckIn.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Member table is basically the center of the system because members connect to their home gym, their membership record, and their check-in activity.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All of the relationships are one-to-many. For example, one gym location can have many members, and one member can have many check-ins.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25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365760" y="164592"/>
            <a:ext cx="64008" cy="64008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54864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Relationships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438875" y="996575"/>
            <a:ext cx="8321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250"/>
              <a:buFont typeface="Calibri"/>
              <a:buNone/>
            </a:pPr>
            <a:r>
              <a:rPr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chart explains how the tables are connected through foreign keys. All of the main relationships in this database are one-to-many.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274320" y="2103120"/>
            <a:ext cx="8595360" cy="29260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347472" y="2130552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713232" y="2130552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Relationship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2267712" y="2130552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Cardinality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3822192" y="2130552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Foreign Key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5468112" y="2130552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274320" y="2423160"/>
            <a:ext cx="8595360" cy="44805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347472" y="2514600"/>
            <a:ext cx="219456" cy="219456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347472" y="251460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713232" y="2478024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CFF6"/>
              </a:buClr>
              <a:buSzPts val="1100"/>
              <a:buFont typeface="Consolas"/>
              <a:buNone/>
            </a:pPr>
            <a:r>
              <a:rPr b="1" lang="en-US" sz="12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GymLocation to Member</a:t>
            </a:r>
            <a:endParaRPr b="0" i="0" sz="1200" u="none" cap="none" strike="noStrike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2267712" y="2478024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050"/>
              <a:buFont typeface="Consolas"/>
              <a:buNone/>
            </a:pPr>
            <a:r>
              <a:rPr b="1" lang="en-US" sz="1150">
                <a:solidFill>
                  <a:srgbClr val="E8B84B"/>
                </a:solidFill>
                <a:latin typeface="Consolas"/>
                <a:ea typeface="Consolas"/>
                <a:cs typeface="Consolas"/>
                <a:sym typeface="Consolas"/>
              </a:rPr>
              <a:t>1:N</a:t>
            </a:r>
            <a:endParaRPr b="1" i="0" sz="1150" cap="none" strike="noStrike">
              <a:solidFill>
                <a:srgbClr val="E8B8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3822192" y="2478024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GymLocation</a:t>
            </a:r>
            <a:endParaRPr b="0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5468112" y="2478024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gym can be home to many members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274320" y="2898648"/>
            <a:ext cx="8595360" cy="44805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347472" y="2990088"/>
            <a:ext cx="219456" cy="219456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47472" y="2990088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713232" y="29535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CFF6"/>
              </a:buClr>
              <a:buSzPts val="1100"/>
              <a:buFont typeface="Consolas"/>
              <a:buNone/>
            </a:pPr>
            <a:r>
              <a:rPr b="1" lang="en-US" sz="12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Member to Membership</a:t>
            </a:r>
            <a:endParaRPr b="0" i="0" sz="1200" u="none" cap="none" strike="noStrike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2267712" y="29535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050"/>
              <a:buFont typeface="Consolas"/>
              <a:buNone/>
            </a:pPr>
            <a:r>
              <a:rPr b="1" lang="en-US" sz="1150">
                <a:solidFill>
                  <a:srgbClr val="E8B84B"/>
                </a:solidFill>
                <a:latin typeface="Consolas"/>
                <a:ea typeface="Consolas"/>
                <a:cs typeface="Consolas"/>
                <a:sym typeface="Consolas"/>
              </a:rPr>
              <a:t>1:N</a:t>
            </a:r>
            <a:endParaRPr b="1" i="0" sz="1150" cap="none" strike="noStrike">
              <a:solidFill>
                <a:srgbClr val="E8B8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3822192" y="2953512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Member</a:t>
            </a:r>
            <a:endParaRPr b="0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5468112" y="2953512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member can have many membership records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274320" y="3374136"/>
            <a:ext cx="8595360" cy="44805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347472" y="3465576"/>
            <a:ext cx="219456" cy="219456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347472" y="3465576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713232" y="34290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CFF6"/>
              </a:buClr>
              <a:buSzPts val="1100"/>
              <a:buFont typeface="Consolas"/>
              <a:buNone/>
            </a:pPr>
            <a:r>
              <a:rPr b="1" lang="en-US" sz="12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Plan to Membership</a:t>
            </a:r>
            <a:endParaRPr b="0" i="0" sz="1200" u="none" cap="none" strike="noStrike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2267712" y="34290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050"/>
              <a:buFont typeface="Consolas"/>
              <a:buNone/>
            </a:pPr>
            <a:r>
              <a:rPr b="1" lang="en-US" sz="1150">
                <a:solidFill>
                  <a:srgbClr val="E8B84B"/>
                </a:solidFill>
                <a:latin typeface="Consolas"/>
                <a:ea typeface="Consolas"/>
                <a:cs typeface="Consolas"/>
                <a:sym typeface="Consolas"/>
              </a:rPr>
              <a:t>1:N</a:t>
            </a:r>
            <a:endParaRPr b="1" i="0" sz="1150" cap="none" strike="noStrike">
              <a:solidFill>
                <a:srgbClr val="E8B8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3822192" y="34290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Plan</a:t>
            </a:r>
            <a:endParaRPr b="0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468112" y="342900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plan can be used by many memberships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274320" y="3849624"/>
            <a:ext cx="8595360" cy="44805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347472" y="3941064"/>
            <a:ext cx="219456" cy="219456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347472" y="394106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713232" y="390448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CFF6"/>
              </a:buClr>
              <a:buSzPts val="1100"/>
              <a:buFont typeface="Consolas"/>
              <a:buNone/>
            </a:pPr>
            <a:r>
              <a:rPr b="1" lang="en-US" sz="12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Member to CheckIn</a:t>
            </a:r>
            <a:endParaRPr b="0" i="0" sz="1200" u="none" cap="none" strike="noStrike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2267712" y="390448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050"/>
              <a:buFont typeface="Consolas"/>
              <a:buNone/>
            </a:pPr>
            <a:r>
              <a:rPr b="1" lang="en-US" sz="1150">
                <a:solidFill>
                  <a:srgbClr val="E8B84B"/>
                </a:solidFill>
                <a:latin typeface="Consolas"/>
                <a:ea typeface="Consolas"/>
                <a:cs typeface="Consolas"/>
                <a:sym typeface="Consolas"/>
              </a:rPr>
              <a:t>1:N</a:t>
            </a:r>
            <a:endParaRPr b="1" i="0" sz="1150" cap="none" strike="noStrike">
              <a:solidFill>
                <a:srgbClr val="E8B8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3822192" y="390448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Member</a:t>
            </a:r>
            <a:endParaRPr b="0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468112" y="3904488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member can make many check-ins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74320" y="4325112"/>
            <a:ext cx="8595360" cy="44805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347472" y="4416552"/>
            <a:ext cx="219456" cy="219456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347472" y="441655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713232" y="437997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CFF6"/>
              </a:buClr>
              <a:buSzPts val="1100"/>
              <a:buFont typeface="Consolas"/>
              <a:buNone/>
            </a:pPr>
            <a:r>
              <a:rPr b="1" lang="en-US" sz="12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GymLocation to CheckIn</a:t>
            </a:r>
            <a:endParaRPr b="0" i="0" sz="1200" u="none" cap="none" strike="noStrike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2267712" y="437997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050"/>
              <a:buFont typeface="Consolas"/>
              <a:buNone/>
            </a:pPr>
            <a:r>
              <a:rPr b="1" lang="en-US" sz="1150">
                <a:solidFill>
                  <a:srgbClr val="E8B84B"/>
                </a:solidFill>
                <a:latin typeface="Consolas"/>
                <a:ea typeface="Consolas"/>
                <a:cs typeface="Consolas"/>
                <a:sym typeface="Consolas"/>
              </a:rPr>
              <a:t>1:N</a:t>
            </a:r>
            <a:endParaRPr b="1" i="0" sz="1150" cap="none" strike="noStrike">
              <a:solidFill>
                <a:srgbClr val="E8B8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3822192" y="4379976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GymLocation</a:t>
            </a:r>
            <a:endParaRPr b="0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468112" y="4379976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gym can have many check-ins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/>
          <p:nvPr/>
        </p:nvSpPr>
        <p:spPr>
          <a:xfrm>
            <a:off x="365760" y="164592"/>
            <a:ext cx="63900" cy="64020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548640" y="164592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Relational Schema – Part 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365750" y="1143000"/>
            <a:ext cx="2651700" cy="1417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475488" y="1216152"/>
            <a:ext cx="24324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CREATE TABLE GymLocation(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GymID    NUMBER(5)    PRIMARY KEY,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GymName  VARCHAR2(50) NOT NULL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3191200" y="1143000"/>
            <a:ext cx="2651700" cy="1417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3264408" y="1216152"/>
            <a:ext cx="24324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CREATE TABLE Member (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MemberID  NUMBER(5)    PRIMARY KEY,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Name      VARCHAR2(50) NOT NULL,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HomeGymID NUMBER(5),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CONSTRAINT member_homegym_fk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FOREIGN KEY (HomeGymID)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REFERENCES GymLocation(GymID)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6035050" y="1143000"/>
            <a:ext cx="2651700" cy="1417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6053328" y="1216152"/>
            <a:ext cx="26151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CREATE TABLE Plan(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PlanID    NUMBER(3)    PRIMARY KEY,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PlanName  VARCHAR2(30) NOT NULL UNIQUE,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AllowsGuest CHAR(1) DEFAULT 'N',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CONSTRAINT plan_guest_ck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CHECK (AllowsGuest IN ('Y','N'))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57200" y="2624328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GymLocation</a:t>
            </a:r>
            <a:endParaRPr b="0" i="0" sz="1200" u="none" cap="none" strike="noStrike">
              <a:solidFill>
                <a:srgbClr val="E8B8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457200" y="2807197"/>
            <a:ext cx="24690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900"/>
              <a:buFont typeface="Calibri"/>
              <a:buNone/>
            </a:pPr>
            <a:r>
              <a:rPr b="1" i="0" lang="en-US" sz="1000" u="none" cap="none" strike="noStrike">
                <a:latin typeface="Calibri"/>
                <a:ea typeface="Calibri"/>
                <a:cs typeface="Calibri"/>
                <a:sym typeface="Calibri"/>
              </a:rPr>
              <a:t>Stores the two gym </a:t>
            </a:r>
            <a:r>
              <a:rPr b="1" lang="en-US" sz="1000">
                <a:latin typeface="Calibri"/>
                <a:ea typeface="Calibri"/>
                <a:cs typeface="Calibri"/>
                <a:sym typeface="Calibri"/>
              </a:rPr>
              <a:t>locations</a:t>
            </a:r>
            <a:r>
              <a:rPr b="1" i="0" lang="en-US" sz="1000" u="none" cap="none" strike="noStrike">
                <a:latin typeface="Calibri"/>
                <a:ea typeface="Calibri"/>
                <a:cs typeface="Calibri"/>
                <a:sym typeface="Calibri"/>
              </a:rPr>
              <a:t>. 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-"/>
            </a:pPr>
            <a:r>
              <a:rPr b="1" lang="en-US" sz="1000">
                <a:latin typeface="Calibri"/>
                <a:ea typeface="Calibri"/>
                <a:cs typeface="Calibri"/>
                <a:sym typeface="Calibri"/>
              </a:rPr>
              <a:t>GymID (PK) to identify each gym.</a:t>
            </a:r>
            <a:endParaRPr b="1" i="0" sz="10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3291840" y="2624328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Member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3291850" y="2807200"/>
            <a:ext cx="2469000" cy="57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Stores each member.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-"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MemberID (PK)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-"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HomeGymID (FK) to connect each member to home gym </a:t>
            </a:r>
            <a:endParaRPr b="1"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6126480" y="2624328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126475" y="2807193"/>
            <a:ext cx="2469000" cy="57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Calibri"/>
                <a:ea typeface="Calibri"/>
                <a:cs typeface="Calibri"/>
                <a:sym typeface="Calibri"/>
              </a:rPr>
              <a:t>Stores membership plan types 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-"/>
            </a:pPr>
            <a:r>
              <a:rPr b="1" lang="en-US" sz="1000">
                <a:latin typeface="Calibri"/>
                <a:ea typeface="Calibri"/>
                <a:cs typeface="Calibri"/>
                <a:sym typeface="Calibri"/>
              </a:rPr>
              <a:t>Basic = No Guests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-"/>
            </a:pPr>
            <a:r>
              <a:rPr b="1" lang="en-US" sz="1000">
                <a:latin typeface="Calibri"/>
                <a:ea typeface="Calibri"/>
                <a:cs typeface="Calibri"/>
                <a:sym typeface="Calibri"/>
              </a:rPr>
              <a:t>Black = Guests Allowed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-"/>
            </a:pPr>
            <a:r>
              <a:rPr b="1" lang="en-US" sz="1000">
                <a:latin typeface="Calibri"/>
                <a:ea typeface="Calibri"/>
                <a:cs typeface="Calibri"/>
                <a:sym typeface="Calibri"/>
              </a:rPr>
              <a:t>Constraint values = Y or N </a:t>
            </a:r>
            <a:endParaRPr b="1"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65760" y="3383502"/>
            <a:ext cx="841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E8B84B"/>
                </a:solidFill>
                <a:latin typeface="Georgia"/>
                <a:ea typeface="Georgia"/>
                <a:cs typeface="Georgia"/>
                <a:sym typeface="Georgia"/>
              </a:rPr>
              <a:t>ActiveMembers 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365760" y="3657822"/>
            <a:ext cx="5029200" cy="141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475488" y="3730974"/>
            <a:ext cx="4809600" cy="127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CREATE OR REPLACE VIEW ActiveMembers AS</a:t>
            </a:r>
            <a:endParaRPr b="1" sz="95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SELECT m.MemberID, m.Name, p.PlanName, ms.Status</a:t>
            </a:r>
            <a:endParaRPr b="1" sz="95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FROM Member m</a:t>
            </a:r>
            <a:endParaRPr b="1" sz="95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JOIN Membership ms ON m.MemberID = ms.MemberID</a:t>
            </a:r>
            <a:endParaRPr b="1" sz="95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JOIN Plan p ON ms.PlanID = p.PlanID</a:t>
            </a:r>
            <a:endParaRPr b="1" sz="95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WHERE ms.Status = 'ACTIVE';</a:t>
            </a:r>
            <a:endParaRPr b="1" sz="95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577840" y="3657822"/>
            <a:ext cx="32004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100"/>
              <a:buFont typeface="Calibri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view joins Member, Membership, and Plan to only show members with an active status. 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48640" y="841248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00"/>
              <a:buFont typeface="Calibri"/>
              <a:buNone/>
            </a:pPr>
            <a:r>
              <a:rPr b="1" i="1" lang="en-US" sz="11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Tables that store basic information for the system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/>
          <p:nvPr/>
        </p:nvSpPr>
        <p:spPr>
          <a:xfrm>
            <a:off x="365760" y="164592"/>
            <a:ext cx="64008" cy="64008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54864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Relational Schema – Part 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548640" y="8412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00"/>
              <a:buFont typeface="Calibri"/>
              <a:buNone/>
            </a:pPr>
            <a:r>
              <a:rPr b="1" i="1" lang="en-US" sz="12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Tables that store membership status and check-in activity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365760" y="1143000"/>
            <a:ext cx="2743200" cy="28346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475488" y="1216152"/>
            <a:ext cx="2523600" cy="26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CREATE TABLE Membership (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MembershipID NUMBER(5) PRIMARY KEY,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MemberID     NUMBER(5) NOT NULL,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PlanID       NUMBER(3) NOT NULL,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Status VARCHAR2(10) DEFAULT 'ACTIVE',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CONSTRAINT membership_member_fk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FOREIGN KEY (MemberID)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REFERENCES Member(MemberID),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CONSTRAINT membership_plan_fk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FOREIGN KEY (PlanID)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REFERENCES Plan(PlanID),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CONSTRAINT membership_status_ck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CHECK (Status IN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('ACTIVE','EXPIRED','CANCELLED'))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3246120" y="1143000"/>
            <a:ext cx="2606040" cy="28346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3355848" y="1216152"/>
            <a:ext cx="2386584" cy="2688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CREATE TABLE CheckIn(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CheckInID  NUMBER(8)  PRIMARY KEY,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MemberID   NUMBER(5)  NOT NULL,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GymID      NUMBER(5)  NOT NULL,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CheckInTime TIMESTAMP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DEFAULT SYSTIMESTAMP,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CONSTRAINT checkin_member_fk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FOREIGN KEY (MemberID)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REFERENCES Member(MemberID),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CONSTRAINT checkin_gym_fk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FOREIGN KEY (GymID)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REFERENCES GymLocation(GymID)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989320" y="1143000"/>
            <a:ext cx="2834640" cy="28346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6099048" y="1216152"/>
            <a:ext cx="2615184" cy="2688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CREATE OR REPLACE TRIGGER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trg_active_checkin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BEFORE INSERT ON CheckIn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FOR EACH ROW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DECLARE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v_count NUMBER;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BEGIN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SELECT COUNT(*) INTO v_count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FROM Membership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WHERE MemberID = :NEW.MemberID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AND Status = 'ACTIVE';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IF v_count = 0 THEN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RAISE_APPLICATION_ERROR(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-20001,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'Member does not have an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 active membership');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END IF;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END;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850"/>
              <a:buFont typeface="Consolas"/>
              <a:buNone/>
            </a:pPr>
            <a:r>
              <a:rPr b="1" i="0" lang="en-US" sz="95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endParaRPr b="1" i="0" sz="95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365750" y="4023375"/>
            <a:ext cx="8458200" cy="1014900"/>
          </a:xfrm>
          <a:prstGeom prst="rect">
            <a:avLst/>
          </a:prstGeom>
          <a:solidFill>
            <a:srgbClr val="1A2A00"/>
          </a:solidFill>
          <a:ln cap="flat" cmpd="sng" w="12700">
            <a:solidFill>
              <a:srgbClr val="A8D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548590" y="405996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A8D8A8"/>
                </a:solidFill>
                <a:latin typeface="Georgia"/>
                <a:ea typeface="Georgia"/>
                <a:cs typeface="Georgia"/>
                <a:sym typeface="Georgia"/>
              </a:rPr>
              <a:t>100+ Rows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48590" y="4306851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n-US" sz="1050" u="none" cap="none" strike="noStrike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rPr>
              <a:t>  102 rows in Member 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48590" y="4553739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n-US" sz="1050" u="none" cap="none" strike="noStrike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rPr>
              <a:t>  102 rows in Membership 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48590" y="4800627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n-US" sz="1050" u="none" cap="none" strike="noStrike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rPr>
              <a:t>  112+ rows in CheckIn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/>
          <p:nvPr/>
        </p:nvSpPr>
        <p:spPr>
          <a:xfrm>
            <a:off x="365760" y="164592"/>
            <a:ext cx="64008" cy="64008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54864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SQL Query 1: The </a:t>
            </a:r>
            <a:r>
              <a:rPr b="1"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Most Active Member</a:t>
            </a:r>
            <a:r>
              <a:rPr b="1" i="0" lang="en-US" sz="26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365760" y="1143000"/>
            <a:ext cx="4572000" cy="2286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475488" y="1216152"/>
            <a:ext cx="4352544" cy="2139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SELECT m.Name,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 COUNT(c.CheckInID) AS TotalWorkouts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FROM Member m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JOIN CheckIn c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ON m.MemberID = c.MemberID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GROUP BY m.Name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ORDER BY TotalWorkouts DESC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FETCH FIRST 1 ROWS ONLY;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5120640" y="1143000"/>
            <a:ext cx="3703320" cy="2286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5230368" y="1216152"/>
            <a:ext cx="3483864" cy="2139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NAME              TOTALWORKOUTS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----------------  -------------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Bob Smith 1001               55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1 row selected.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365750" y="3838600"/>
            <a:ext cx="70602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1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query joins Member and CheckIn using MemberID, counts each member’s check-ins, groups the totals by member, and returns the person with the highest number of visits.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/>
          <p:nvPr/>
        </p:nvSpPr>
        <p:spPr>
          <a:xfrm>
            <a:off x="365760" y="164592"/>
            <a:ext cx="64008" cy="64008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54864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SQL Query 2: Most Crowded Location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365760" y="1143000"/>
            <a:ext cx="4572000" cy="21488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475488" y="1216152"/>
            <a:ext cx="4352544" cy="2002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SELECT g.GymName,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 COUNT(c.CheckInID) AS FootTraffic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FROM GymLocation g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LEFT JOIN CheckIn c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ON g.GymID = c.GymID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GROUP BY g.GymName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ORDER BY FootTraffic DESC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FETCH FIRST 1 ROWS ONLY;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5120640" y="1143000"/>
            <a:ext cx="3703320" cy="21488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5230368" y="1216152"/>
            <a:ext cx="3483864" cy="2002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GYMNAME                   FOOTTRAFFIC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  -----------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Planet Fitness Downtown            68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1 row selected.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365750" y="3838600"/>
            <a:ext cx="70602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1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query joins GymLocation to CheckIn using GymID, counts the check-ins for each gym, groups the totals by location, and returns the gym with the highest foot traffic.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/>
          <p:nvPr/>
        </p:nvSpPr>
        <p:spPr>
          <a:xfrm>
            <a:off x="365760" y="164592"/>
            <a:ext cx="64008" cy="64008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"/>
          <p:cNvSpPr/>
          <p:nvPr/>
        </p:nvSpPr>
        <p:spPr>
          <a:xfrm>
            <a:off x="54864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SQL Query 3: Guest Privileges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548640" y="8412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Find active members whose plan allows guest access — 3-table JOIN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365760" y="1143000"/>
            <a:ext cx="4297680" cy="25603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"/>
          <p:cNvSpPr/>
          <p:nvPr/>
        </p:nvSpPr>
        <p:spPr>
          <a:xfrm>
            <a:off x="475488" y="1216152"/>
            <a:ext cx="4078224" cy="241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SELECT m.Name, p.PlanName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FROM Member m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JOIN Membership ms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ON m.MemberID = ms.MemberID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JOIN Plan p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ON ms.PlanID = p.PlanID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WHERE p.AllowsGuest = 'Y'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AND ms.Status = 'ACTIVE'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FETCH FIRST 10 ROWS ONLY;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4846320" y="1143000"/>
            <a:ext cx="3977640" cy="25603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4956048" y="1216152"/>
            <a:ext cx="3758184" cy="241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05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NAME                  PLANNAME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05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--------------------  ----------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05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Robert Johnson 3      Black Card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05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Michael Brown 5       Black Card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05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William Miller 7      Black Card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05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David Garcia 9        Black Card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05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Daniel Martin 15      Black Card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05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Anthony White 17      Black Card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05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050"/>
              <a:buFont typeface="Consolas"/>
              <a:buNone/>
            </a:pPr>
            <a:r>
              <a:rPr b="1" i="0" lang="en-US" sz="12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10 rows selected.</a:t>
            </a:r>
            <a:endParaRPr b="1" i="0" sz="1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365750" y="3838600"/>
            <a:ext cx="70602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1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query joins Member, Membership, and Plan to find active members whose plan allows guests. The filters require AllowsGuest = 'Y' and Status = 'ACTIVE', so expired members and Basic plan members are excluded.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/>
          <p:nvPr/>
        </p:nvSpPr>
        <p:spPr>
          <a:xfrm>
            <a:off x="365760" y="164592"/>
            <a:ext cx="64008" cy="64008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2"/>
          <p:cNvSpPr/>
          <p:nvPr/>
        </p:nvSpPr>
        <p:spPr>
          <a:xfrm>
            <a:off x="54864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SQL Query 4: Expired Members + Trigger Test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548640" y="84124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Find expired members then demonstrate the trigger blocking a check-in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365760" y="1143000"/>
            <a:ext cx="3383280" cy="2743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"/>
          <p:cNvSpPr/>
          <p:nvPr/>
        </p:nvSpPr>
        <p:spPr>
          <a:xfrm>
            <a:off x="475488" y="1216152"/>
            <a:ext cx="3163824" cy="2596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SELECT m.Name,</a:t>
            </a:r>
            <a:endParaRPr b="1" i="0" sz="1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MAX(c.CheckInTime) AS LastVisit</a:t>
            </a:r>
            <a:endParaRPr b="1" i="0" sz="1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FROM Member m</a:t>
            </a:r>
            <a:endParaRPr b="1" i="0" sz="1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JOIN Membership ms</a:t>
            </a:r>
            <a:endParaRPr b="1" i="0" sz="1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ON m.MemberID = ms.MemberID</a:t>
            </a:r>
            <a:endParaRPr b="1" i="0" sz="1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LEFT JOIN CheckIn c</a:t>
            </a:r>
            <a:endParaRPr b="1" i="0" sz="1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ON m.MemberID = c.MemberID</a:t>
            </a:r>
            <a:endParaRPr b="1" i="0" sz="1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WHERE ms.Status = 'EXPIRED'</a:t>
            </a:r>
            <a:endParaRPr b="1" i="0" sz="1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GROUP BY m.Name</a:t>
            </a:r>
            <a:endParaRPr b="1" i="0" sz="1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ORDER BY LastVisit DESC</a:t>
            </a:r>
            <a:endParaRPr b="1" i="0" sz="1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FETCH FIRST 5 ROWS ONLY;</a:t>
            </a:r>
            <a:endParaRPr b="1" i="0" sz="1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3886200" y="1143000"/>
            <a:ext cx="2834640" cy="2743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"/>
          <p:cNvSpPr/>
          <p:nvPr/>
        </p:nvSpPr>
        <p:spPr>
          <a:xfrm>
            <a:off x="3995928" y="1216152"/>
            <a:ext cx="2615184" cy="2596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NAME               LASTVISIT</a:t>
            </a:r>
            <a:endParaRPr b="1" i="0" sz="1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-----------------  -------------------</a:t>
            </a:r>
            <a:endParaRPr b="1" i="0" sz="1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Carol Davis        (null)</a:t>
            </a:r>
            <a:endParaRPr b="1" i="0" sz="1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Linda Williams 4   29-APR-26 08.10 AM</a:t>
            </a:r>
            <a:endParaRPr b="1" i="0" sz="1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Barbara Jones 6    29-APR-26 06.10 AM</a:t>
            </a:r>
            <a:endParaRPr b="1" i="0" sz="1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1" i="0" sz="1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1" i="0" sz="1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50"/>
              <a:buFont typeface="Consolas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5 rows selected.</a:t>
            </a:r>
            <a:endParaRPr b="1" i="0" sz="1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6858000" y="1143000"/>
            <a:ext cx="1965960" cy="10515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"/>
          <p:cNvSpPr/>
          <p:nvPr/>
        </p:nvSpPr>
        <p:spPr>
          <a:xfrm>
            <a:off x="6967728" y="1216152"/>
            <a:ext cx="1746504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nsolas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-- Carol (1002) has EXPIRED membership</a:t>
            </a:r>
            <a:endParaRPr b="1" i="0" sz="1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nsolas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INSERT INTO CheckIn</a:t>
            </a:r>
            <a:endParaRPr b="1" i="0" sz="1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900"/>
              <a:buFont typeface="Consolas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VALUES (999, 1002, 2, SYSTIMESTAMP);</a:t>
            </a:r>
            <a:endParaRPr b="1" i="0" sz="10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6858000" y="2286000"/>
            <a:ext cx="1965960" cy="1600200"/>
          </a:xfrm>
          <a:prstGeom prst="rect">
            <a:avLst/>
          </a:prstGeom>
          <a:solidFill>
            <a:srgbClr val="2A0000"/>
          </a:solidFill>
          <a:ln cap="flat" cmpd="sng" w="25400">
            <a:solidFill>
              <a:srgbClr val="CC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"/>
          <p:cNvSpPr/>
          <p:nvPr/>
        </p:nvSpPr>
        <p:spPr>
          <a:xfrm>
            <a:off x="6949440" y="233172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⛔  TRIGGER OUTPUT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6949440" y="2560320"/>
            <a:ext cx="1828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777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F7777"/>
                </a:solidFill>
                <a:latin typeface="Consolas"/>
                <a:ea typeface="Consolas"/>
                <a:cs typeface="Consolas"/>
                <a:sym typeface="Consolas"/>
              </a:rPr>
              <a:t>ERROR at line 1: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777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F7777"/>
                </a:solidFill>
                <a:latin typeface="Consolas"/>
                <a:ea typeface="Consolas"/>
                <a:cs typeface="Consolas"/>
                <a:sym typeface="Consolas"/>
              </a:rPr>
              <a:t>ORA-20001: Member does not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777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F7777"/>
                </a:solidFill>
                <a:latin typeface="Consolas"/>
                <a:ea typeface="Consolas"/>
                <a:cs typeface="Consolas"/>
                <a:sym typeface="Consolas"/>
              </a:rPr>
              <a:t>have an active membership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777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F7777"/>
                </a:solidFill>
                <a:latin typeface="Consolas"/>
                <a:ea typeface="Consolas"/>
                <a:cs typeface="Consolas"/>
                <a:sym typeface="Consolas"/>
              </a:rPr>
              <a:t>ORA-06512: at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777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F7777"/>
                </a:solidFill>
                <a:latin typeface="Consolas"/>
                <a:ea typeface="Consolas"/>
                <a:cs typeface="Consolas"/>
                <a:sym typeface="Consolas"/>
              </a:rPr>
              <a:t>"TRG_ACTIVE_CHECKIN",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777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F7777"/>
                </a:solidFill>
                <a:latin typeface="Consolas"/>
                <a:ea typeface="Consolas"/>
                <a:cs typeface="Consolas"/>
                <a:sym typeface="Consolas"/>
              </a:rPr>
              <a:t>line 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777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F7777"/>
                </a:solidFill>
                <a:latin typeface="Consolas"/>
                <a:ea typeface="Consolas"/>
                <a:cs typeface="Consolas"/>
                <a:sym typeface="Consolas"/>
              </a:rPr>
              <a:t>ORA-04088: error during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777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F7777"/>
                </a:solidFill>
                <a:latin typeface="Consolas"/>
                <a:ea typeface="Consolas"/>
                <a:cs typeface="Consolas"/>
                <a:sym typeface="Consolas"/>
              </a:rPr>
              <a:t>execution of trigger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365750" y="4087375"/>
            <a:ext cx="70602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1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query finds members with an EXPIRED membership status and uses a LEFT JOIN to keep them in the result even if they don’t have any check-ins. MAX(CheckInTime) shows the most recent visit for each expired member. We confirmed the trigger works by inserting a check-in for Carol Davis, whose membership is expired. Therefore, Oracle blocked our attempt.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/>
          <p:nvPr/>
        </p:nvSpPr>
        <p:spPr>
          <a:xfrm>
            <a:off x="365760" y="164592"/>
            <a:ext cx="63900" cy="64020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3"/>
          <p:cNvSpPr/>
          <p:nvPr/>
        </p:nvSpPr>
        <p:spPr>
          <a:xfrm>
            <a:off x="548640" y="164592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GUI </a:t>
            </a:r>
            <a:r>
              <a:rPr b="1" lang="en-US" sz="2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Abilities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548640" y="841248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00"/>
              <a:buFont typeface="Calibri"/>
              <a:buNone/>
            </a:pPr>
            <a:r>
              <a:rPr b="1" i="1" lang="en-US" sz="12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Python + tkinter interface connected to Oracle — gym_gui.py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365760" y="1344168"/>
            <a:ext cx="347400" cy="347400"/>
          </a:xfrm>
          <a:prstGeom prst="ellipse">
            <a:avLst/>
          </a:prstGeom>
          <a:solidFill>
            <a:srgbClr val="6ECFF6"/>
          </a:solidFill>
          <a:ln cap="flat" cmpd="sng" w="12700">
            <a:solidFill>
              <a:srgbClr val="6ECF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"/>
          <p:cNvSpPr/>
          <p:nvPr/>
        </p:nvSpPr>
        <p:spPr>
          <a:xfrm>
            <a:off x="868680" y="1325880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CF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ECFF6"/>
                </a:solidFill>
                <a:latin typeface="Calibri"/>
                <a:ea typeface="Calibri"/>
                <a:cs typeface="Calibri"/>
                <a:sym typeface="Calibri"/>
              </a:rPr>
              <a:t>Members 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868680" y="1581912"/>
            <a:ext cx="347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95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Shows all 102 members from the Member table with their home gym and membership status.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365760" y="2258568"/>
            <a:ext cx="347400" cy="347400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3"/>
          <p:cNvSpPr/>
          <p:nvPr/>
        </p:nvSpPr>
        <p:spPr>
          <a:xfrm>
            <a:off x="868680" y="2240280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View Plans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868680" y="2496312"/>
            <a:ext cx="347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95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Displays both plans (Basic and Black Card) with their AllowsGuest value.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365760" y="3172968"/>
            <a:ext cx="347400" cy="347400"/>
          </a:xfrm>
          <a:prstGeom prst="ellipse">
            <a:avLst/>
          </a:prstGeom>
          <a:solidFill>
            <a:srgbClr val="A8D8A8"/>
          </a:solidFill>
          <a:ln cap="flat" cmpd="sng" w="12700">
            <a:solidFill>
              <a:srgbClr val="A8D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3"/>
          <p:cNvSpPr/>
          <p:nvPr/>
        </p:nvSpPr>
        <p:spPr>
          <a:xfrm>
            <a:off x="868680" y="3154680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D8A8"/>
                </a:solidFill>
                <a:latin typeface="Calibri"/>
                <a:ea typeface="Calibri"/>
                <a:cs typeface="Calibri"/>
                <a:sym typeface="Calibri"/>
              </a:rPr>
              <a:t>Check-in Log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868680" y="3410712"/>
            <a:ext cx="347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95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Lists all check-ins from the CheckIn table with timestamps and gym location.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365760" y="4087368"/>
            <a:ext cx="347400" cy="347400"/>
          </a:xfrm>
          <a:prstGeom prst="ellipse">
            <a:avLst/>
          </a:prstGeom>
          <a:solidFill>
            <a:srgbClr val="D2BBFF"/>
          </a:solidFill>
          <a:ln cap="flat" cmpd="sng" w="12700">
            <a:solidFill>
              <a:srgbClr val="D2B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3"/>
          <p:cNvSpPr/>
          <p:nvPr/>
        </p:nvSpPr>
        <p:spPr>
          <a:xfrm>
            <a:off x="868680" y="4069080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BB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2BBFF"/>
                </a:solidFill>
                <a:latin typeface="Calibri"/>
                <a:ea typeface="Calibri"/>
                <a:cs typeface="Calibri"/>
                <a:sym typeface="Calibri"/>
              </a:rPr>
              <a:t>Add Member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868680" y="4325112"/>
            <a:ext cx="347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95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into Member and Membership — creates both rows so the member is immediately active.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4663440" y="1344168"/>
            <a:ext cx="347400" cy="347400"/>
          </a:xfrm>
          <a:prstGeom prst="ellipse">
            <a:avLst/>
          </a:prstGeom>
          <a:solidFill>
            <a:srgbClr val="FFB347"/>
          </a:solidFill>
          <a:ln cap="flat" cmpd="sng" w="12700">
            <a:solidFill>
              <a:srgbClr val="FFB3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3"/>
          <p:cNvSpPr/>
          <p:nvPr/>
        </p:nvSpPr>
        <p:spPr>
          <a:xfrm>
            <a:off x="5166360" y="1325880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4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B347"/>
                </a:solidFill>
                <a:latin typeface="Calibri"/>
                <a:ea typeface="Calibri"/>
                <a:cs typeface="Calibri"/>
                <a:sym typeface="Calibri"/>
              </a:rPr>
              <a:t>Add Check-in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5166360" y="1581912"/>
            <a:ext cx="347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95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into CheckIn — the trigger fires here. Expired members get blocked with ORA-20001.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4663440" y="2304288"/>
            <a:ext cx="347400" cy="347400"/>
          </a:xfrm>
          <a:prstGeom prst="ellipse">
            <a:avLst/>
          </a:prstGeom>
          <a:solidFill>
            <a:srgbClr val="4CD7F6"/>
          </a:solidFill>
          <a:ln cap="flat" cmpd="sng" w="12700">
            <a:solidFill>
              <a:srgbClr val="4CD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3"/>
          <p:cNvSpPr/>
          <p:nvPr/>
        </p:nvSpPr>
        <p:spPr>
          <a:xfrm>
            <a:off x="5166360" y="2286000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D7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CD7F6"/>
                </a:solidFill>
                <a:latin typeface="Calibri"/>
                <a:ea typeface="Calibri"/>
                <a:cs typeface="Calibri"/>
                <a:sym typeface="Calibri"/>
              </a:rPr>
              <a:t>Update Status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5166360" y="2542032"/>
            <a:ext cx="347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95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Membership SET Status — change a member to EXPIRED, then try checking them in to show the trigger.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4663440" y="3264408"/>
            <a:ext cx="347400" cy="347400"/>
          </a:xfrm>
          <a:prstGeom prst="ellipse">
            <a:avLst/>
          </a:prstGeom>
          <a:solidFill>
            <a:srgbClr val="FFB4AB"/>
          </a:solidFill>
          <a:ln cap="flat" cmpd="sng" w="12700">
            <a:solidFill>
              <a:srgbClr val="FFB4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"/>
          <p:cNvSpPr/>
          <p:nvPr/>
        </p:nvSpPr>
        <p:spPr>
          <a:xfrm>
            <a:off x="5166360" y="3246120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4A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B4AB"/>
                </a:solidFill>
                <a:latin typeface="Calibri"/>
                <a:ea typeface="Calibri"/>
                <a:cs typeface="Calibri"/>
                <a:sym typeface="Calibri"/>
              </a:rPr>
              <a:t>Delete Member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5166360" y="3502152"/>
            <a:ext cx="347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95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Deletes CheckIn → Membership → Member in order, respecting FK constraints.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4389120" y="1097280"/>
            <a:ext cx="36600" cy="3840600"/>
          </a:xfrm>
          <a:prstGeom prst="rect">
            <a:avLst/>
          </a:prstGeom>
          <a:solidFill>
            <a:srgbClr val="2D3449"/>
          </a:solidFill>
          <a:ln cap="flat" cmpd="sng" w="12700">
            <a:solidFill>
              <a:srgbClr val="2D3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/>
          <p:nvPr/>
        </p:nvSpPr>
        <p:spPr>
          <a:xfrm>
            <a:off x="365760" y="164592"/>
            <a:ext cx="63900" cy="64020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4"/>
          <p:cNvSpPr/>
          <p:nvPr/>
        </p:nvSpPr>
        <p:spPr>
          <a:xfrm>
            <a:off x="548640" y="164592"/>
            <a:ext cx="8229600" cy="64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Technologies Used</a:t>
            </a:r>
            <a:endParaRPr b="1" i="0" sz="26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548640" y="841248"/>
            <a:ext cx="8229600" cy="25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Tools and languages used to build this project</a:t>
            </a:r>
            <a:endParaRPr b="0" i="1" sz="110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411480" y="1188720"/>
            <a:ext cx="2651700" cy="34746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4CD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4"/>
          <p:cNvSpPr/>
          <p:nvPr/>
        </p:nvSpPr>
        <p:spPr>
          <a:xfrm>
            <a:off x="411480" y="1188720"/>
            <a:ext cx="2651700" cy="54900"/>
          </a:xfrm>
          <a:prstGeom prst="rect">
            <a:avLst/>
          </a:prstGeom>
          <a:solidFill>
            <a:srgbClr val="4CD7F6"/>
          </a:solidFill>
          <a:ln cap="flat" cmpd="sng" w="12700">
            <a:solidFill>
              <a:srgbClr val="4CD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1777494756779_image.png" id="230" name="Google Shape;23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1389888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4"/>
          <p:cNvSpPr/>
          <p:nvPr/>
        </p:nvSpPr>
        <p:spPr>
          <a:xfrm>
            <a:off x="502920" y="2852928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D7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CD7F6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502920" y="3108960"/>
            <a:ext cx="24690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Python</a:t>
            </a:r>
            <a:endParaRPr b="1" i="0" sz="22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530352" y="3529584"/>
            <a:ext cx="2423100" cy="107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GUI code </a:t>
            </a:r>
            <a:r>
              <a:rPr b="0" i="0"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written in Python. </a:t>
            </a:r>
            <a:r>
              <a:rPr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b="0" i="0"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nnect</a:t>
            </a:r>
            <a:r>
              <a:rPr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ed</a:t>
            </a:r>
            <a:r>
              <a:rPr b="0" i="0"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to Oracle, runs SQL statements, and manages all actions</a:t>
            </a:r>
            <a:r>
              <a:rPr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3246120" y="1188720"/>
            <a:ext cx="2651700" cy="34746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FB4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3246120" y="1188720"/>
            <a:ext cx="2651700" cy="54900"/>
          </a:xfrm>
          <a:prstGeom prst="rect">
            <a:avLst/>
          </a:prstGeom>
          <a:solidFill>
            <a:srgbClr val="FFB4AB"/>
          </a:solidFill>
          <a:ln cap="flat" cmpd="sng" w="12700">
            <a:solidFill>
              <a:srgbClr val="FFB4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1777494776555_image.png" id="236" name="Google Shape;23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94760" y="1572768"/>
            <a:ext cx="1645920" cy="102412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4"/>
          <p:cNvSpPr/>
          <p:nvPr/>
        </p:nvSpPr>
        <p:spPr>
          <a:xfrm>
            <a:off x="3337560" y="2706624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4A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B4AB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3337560" y="2962656"/>
            <a:ext cx="24690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Oracle DB</a:t>
            </a:r>
            <a:endParaRPr b="1" i="0" sz="22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3364992" y="3383280"/>
            <a:ext cx="2423100" cy="1225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Oracle SQL store</a:t>
            </a:r>
            <a:r>
              <a:rPr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ables, check constraints and foreign key</a:t>
            </a:r>
            <a:r>
              <a:rPr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to run and manage database.</a:t>
            </a:r>
            <a:endParaRPr b="0" i="0" sz="9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6080760" y="1188720"/>
            <a:ext cx="2651700" cy="34746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4ED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4"/>
          <p:cNvSpPr/>
          <p:nvPr/>
        </p:nvSpPr>
        <p:spPr>
          <a:xfrm>
            <a:off x="6080760" y="1188720"/>
            <a:ext cx="2651700" cy="54900"/>
          </a:xfrm>
          <a:prstGeom prst="rect">
            <a:avLst/>
          </a:prstGeom>
          <a:solidFill>
            <a:srgbClr val="4EDEA3"/>
          </a:solidFill>
          <a:ln cap="flat" cmpd="sng" w="12700">
            <a:solidFill>
              <a:srgbClr val="4ED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4"/>
          <p:cNvSpPr/>
          <p:nvPr/>
        </p:nvSpPr>
        <p:spPr>
          <a:xfrm>
            <a:off x="6720840" y="1353312"/>
            <a:ext cx="1371600" cy="1371600"/>
          </a:xfrm>
          <a:prstGeom prst="rect">
            <a:avLst/>
          </a:prstGeom>
          <a:solidFill>
            <a:srgbClr val="E6F4EA"/>
          </a:solidFill>
          <a:ln cap="flat" cmpd="sng" w="25400">
            <a:solidFill>
              <a:srgbClr val="4ED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"/>
          <p:cNvSpPr/>
          <p:nvPr/>
        </p:nvSpPr>
        <p:spPr>
          <a:xfrm>
            <a:off x="6720840" y="1353312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DEA3"/>
              </a:buClr>
              <a:buSzPts val="4600"/>
              <a:buFont typeface="Georgia"/>
              <a:buNone/>
            </a:pPr>
            <a:r>
              <a:rPr b="1" i="0" lang="en-US" sz="4600" u="none" cap="none" strike="noStrike">
                <a:solidFill>
                  <a:srgbClr val="4EDEA3"/>
                </a:solidFill>
                <a:latin typeface="Georgia"/>
                <a:ea typeface="Georgia"/>
                <a:cs typeface="Georgia"/>
                <a:sym typeface="Georgia"/>
              </a:rPr>
              <a:t>tk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6172200" y="2852928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DEA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EDEA3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6172200" y="3108960"/>
            <a:ext cx="24690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tkinter</a:t>
            </a:r>
            <a:endParaRPr b="1" i="0" sz="22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6199632" y="3529584"/>
            <a:ext cx="2423100" cy="107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reate</a:t>
            </a:r>
            <a:r>
              <a:rPr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 t</a:t>
            </a:r>
            <a:r>
              <a:rPr b="0" i="0" lang="en-US" sz="9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he windows, tables, buttons, and popup forms. </a:t>
            </a:r>
            <a:endParaRPr b="0" i="0" sz="9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15"/>
          <p:cNvGrpSpPr/>
          <p:nvPr/>
        </p:nvGrpSpPr>
        <p:grpSpPr>
          <a:xfrm>
            <a:off x="411810" y="92892"/>
            <a:ext cx="8412480" cy="640200"/>
            <a:chOff x="365760" y="92892"/>
            <a:chExt cx="8412480" cy="640200"/>
          </a:xfrm>
        </p:grpSpPr>
        <p:sp>
          <p:nvSpPr>
            <p:cNvPr id="253" name="Google Shape;253;p15"/>
            <p:cNvSpPr/>
            <p:nvPr/>
          </p:nvSpPr>
          <p:spPr>
            <a:xfrm>
              <a:off x="365760" y="92892"/>
              <a:ext cx="63900" cy="640200"/>
            </a:xfrm>
            <a:prstGeom prst="rect">
              <a:avLst/>
            </a:prstGeom>
            <a:solidFill>
              <a:srgbClr val="E8B8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5"/>
            <p:cNvSpPr txBox="1"/>
            <p:nvPr/>
          </p:nvSpPr>
          <p:spPr>
            <a:xfrm>
              <a:off x="548640" y="92892"/>
              <a:ext cx="82296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rPr>
                <a:t>UI Dashboard &amp; Database Integration</a:t>
              </a:r>
              <a:endParaRPr b="1" sz="26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255" name="Google Shape;255;p15"/>
          <p:cNvGrpSpPr/>
          <p:nvPr/>
        </p:nvGrpSpPr>
        <p:grpSpPr>
          <a:xfrm>
            <a:off x="411802" y="839526"/>
            <a:ext cx="4801214" cy="2065651"/>
            <a:chOff x="361950" y="1143000"/>
            <a:chExt cx="4095900" cy="1762200"/>
          </a:xfrm>
        </p:grpSpPr>
        <p:sp>
          <p:nvSpPr>
            <p:cNvPr id="256" name="Google Shape;256;p15"/>
            <p:cNvSpPr/>
            <p:nvPr/>
          </p:nvSpPr>
          <p:spPr>
            <a:xfrm>
              <a:off x="361950" y="1143000"/>
              <a:ext cx="4095900" cy="1762200"/>
            </a:xfrm>
            <a:prstGeom prst="roundRect">
              <a:avLst>
                <a:gd fmla="val 4324" name="adj"/>
              </a:avLst>
            </a:prstGeom>
            <a:solidFill>
              <a:srgbClr val="FFFFFF"/>
            </a:solidFill>
            <a:ln cap="flat" cmpd="sng" w="111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7" name="Google Shape;257;p15"/>
            <p:cNvPicPr preferRelativeResize="0"/>
            <p:nvPr/>
          </p:nvPicPr>
          <p:blipFill rotWithShape="1">
            <a:blip r:embed="rId3">
              <a:alphaModFix/>
            </a:blip>
            <a:srcRect b="18527" l="0" r="0" t="18521"/>
            <a:stretch/>
          </p:blipFill>
          <p:spPr>
            <a:xfrm>
              <a:off x="438150" y="1219200"/>
              <a:ext cx="3943200" cy="1609800"/>
            </a:xfrm>
            <a:prstGeom prst="roundRect">
              <a:avLst>
                <a:gd fmla="val 2366" name="adj"/>
              </a:avLst>
            </a:prstGeom>
            <a:noFill/>
            <a:ln>
              <a:noFill/>
            </a:ln>
          </p:spPr>
        </p:pic>
      </p:grpSp>
      <p:grpSp>
        <p:nvGrpSpPr>
          <p:cNvPr id="258" name="Google Shape;258;p15"/>
          <p:cNvGrpSpPr/>
          <p:nvPr/>
        </p:nvGrpSpPr>
        <p:grpSpPr>
          <a:xfrm>
            <a:off x="411791" y="3011599"/>
            <a:ext cx="4801214" cy="2065651"/>
            <a:chOff x="4686300" y="1143000"/>
            <a:chExt cx="4095900" cy="1762200"/>
          </a:xfrm>
        </p:grpSpPr>
        <p:sp>
          <p:nvSpPr>
            <p:cNvPr id="259" name="Google Shape;259;p15"/>
            <p:cNvSpPr/>
            <p:nvPr/>
          </p:nvSpPr>
          <p:spPr>
            <a:xfrm>
              <a:off x="4686300" y="1143000"/>
              <a:ext cx="4095900" cy="1762200"/>
            </a:xfrm>
            <a:prstGeom prst="roundRect">
              <a:avLst>
                <a:gd fmla="val 4324" name="adj"/>
              </a:avLst>
            </a:prstGeom>
            <a:solidFill>
              <a:srgbClr val="FFFFFF"/>
            </a:solidFill>
            <a:ln cap="flat" cmpd="sng" w="1117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0" name="Google Shape;260;p15"/>
            <p:cNvPicPr preferRelativeResize="0"/>
            <p:nvPr/>
          </p:nvPicPr>
          <p:blipFill rotWithShape="1">
            <a:blip r:embed="rId4">
              <a:alphaModFix/>
            </a:blip>
            <a:srcRect b="18527" l="0" r="0" t="18521"/>
            <a:stretch/>
          </p:blipFill>
          <p:spPr>
            <a:xfrm>
              <a:off x="4762500" y="1219200"/>
              <a:ext cx="3943200" cy="1609800"/>
            </a:xfrm>
            <a:prstGeom prst="roundRect">
              <a:avLst>
                <a:gd fmla="val 2366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16"/>
          <p:cNvGrpSpPr/>
          <p:nvPr/>
        </p:nvGrpSpPr>
        <p:grpSpPr>
          <a:xfrm>
            <a:off x="365760" y="164592"/>
            <a:ext cx="8412480" cy="640200"/>
            <a:chOff x="365760" y="164592"/>
            <a:chExt cx="8412480" cy="640200"/>
          </a:xfrm>
        </p:grpSpPr>
        <p:sp>
          <p:nvSpPr>
            <p:cNvPr id="267" name="Google Shape;267;p16"/>
            <p:cNvSpPr/>
            <p:nvPr/>
          </p:nvSpPr>
          <p:spPr>
            <a:xfrm>
              <a:off x="365760" y="164592"/>
              <a:ext cx="63900" cy="640200"/>
            </a:xfrm>
            <a:prstGeom prst="rect">
              <a:avLst/>
            </a:prstGeom>
            <a:solidFill>
              <a:srgbClr val="E8B8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6"/>
            <p:cNvSpPr txBox="1"/>
            <p:nvPr/>
          </p:nvSpPr>
          <p:spPr>
            <a:xfrm>
              <a:off x="548640" y="164592"/>
              <a:ext cx="82296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rPr>
                <a:t>UI Dashboard &amp; Database Integration</a:t>
              </a:r>
              <a:endParaRPr b="1" sz="26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pic>
        <p:nvPicPr>
          <p:cNvPr id="269" name="Google Shape;269;p16"/>
          <p:cNvPicPr preferRelativeResize="0"/>
          <p:nvPr/>
        </p:nvPicPr>
        <p:blipFill rotWithShape="1">
          <a:blip r:embed="rId3">
            <a:alphaModFix/>
          </a:blip>
          <a:srcRect b="2506" l="0" r="0" t="0"/>
          <a:stretch/>
        </p:blipFill>
        <p:spPr>
          <a:xfrm>
            <a:off x="555825" y="1127725"/>
            <a:ext cx="2640900" cy="3896700"/>
          </a:xfrm>
          <a:prstGeom prst="roundRect">
            <a:avLst>
              <a:gd fmla="val 2366" name="adj"/>
            </a:avLst>
          </a:prstGeom>
          <a:noFill/>
          <a:ln>
            <a:noFill/>
          </a:ln>
        </p:spPr>
      </p:pic>
      <p:grpSp>
        <p:nvGrpSpPr>
          <p:cNvPr id="270" name="Google Shape;270;p16"/>
          <p:cNvGrpSpPr/>
          <p:nvPr/>
        </p:nvGrpSpPr>
        <p:grpSpPr>
          <a:xfrm>
            <a:off x="4594603" y="1127722"/>
            <a:ext cx="2640900" cy="3996900"/>
            <a:chOff x="4686303" y="1943722"/>
            <a:chExt cx="2640900" cy="3996900"/>
          </a:xfrm>
        </p:grpSpPr>
        <p:sp>
          <p:nvSpPr>
            <p:cNvPr id="271" name="Google Shape;271;p16"/>
            <p:cNvSpPr/>
            <p:nvPr/>
          </p:nvSpPr>
          <p:spPr>
            <a:xfrm>
              <a:off x="4686303" y="1943722"/>
              <a:ext cx="2640900" cy="3996900"/>
            </a:xfrm>
            <a:prstGeom prst="roundRect">
              <a:avLst>
                <a:gd fmla="val 2885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2" name="Google Shape;272;p16"/>
            <p:cNvPicPr preferRelativeResize="0"/>
            <p:nvPr/>
          </p:nvPicPr>
          <p:blipFill rotWithShape="1">
            <a:blip r:embed="rId4">
              <a:alphaModFix/>
            </a:blip>
            <a:srcRect b="-44877" l="0" r="10" t="-44877"/>
            <a:stretch/>
          </p:blipFill>
          <p:spPr>
            <a:xfrm>
              <a:off x="4762503" y="2019922"/>
              <a:ext cx="2488500" cy="3844500"/>
            </a:xfrm>
            <a:prstGeom prst="roundRect">
              <a:avLst>
                <a:gd fmla="val 1530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"/>
          <p:cNvSpPr/>
          <p:nvPr/>
        </p:nvSpPr>
        <p:spPr>
          <a:xfrm>
            <a:off x="365760" y="36576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Future 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4389120" y="347472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Future Work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365750" y="1371598"/>
            <a:ext cx="4526400" cy="9144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"/>
          <p:cNvSpPr/>
          <p:nvPr/>
        </p:nvSpPr>
        <p:spPr>
          <a:xfrm>
            <a:off x="365763" y="1371598"/>
            <a:ext cx="54900" cy="91440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/>
          <p:cNvSpPr/>
          <p:nvPr/>
        </p:nvSpPr>
        <p:spPr>
          <a:xfrm>
            <a:off x="548630" y="1463038"/>
            <a:ext cx="416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 date-based expiry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548630" y="1737358"/>
            <a:ext cx="4160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Automatically set Status = EXPIRED when EndDate passes, using a scheduled trigger or date columns.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365813" y="2404870"/>
            <a:ext cx="4526400" cy="914400"/>
          </a:xfrm>
          <a:prstGeom prst="rect">
            <a:avLst/>
          </a:prstGeom>
          <a:solidFill>
            <a:srgbClr val="222222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7"/>
          <p:cNvSpPr/>
          <p:nvPr/>
        </p:nvSpPr>
        <p:spPr>
          <a:xfrm>
            <a:off x="365750" y="2404870"/>
            <a:ext cx="54900" cy="91440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7"/>
          <p:cNvSpPr/>
          <p:nvPr/>
        </p:nvSpPr>
        <p:spPr>
          <a:xfrm>
            <a:off x="548630" y="2496310"/>
            <a:ext cx="416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Staff and trainer tables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548630" y="2770630"/>
            <a:ext cx="4160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Add staff roles, personal trainers, and class scheduling as separate entities.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365750" y="3438142"/>
            <a:ext cx="4526400" cy="9144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7"/>
          <p:cNvSpPr/>
          <p:nvPr/>
        </p:nvSpPr>
        <p:spPr>
          <a:xfrm>
            <a:off x="365788" y="3438142"/>
            <a:ext cx="54900" cy="91440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7"/>
          <p:cNvSpPr/>
          <p:nvPr/>
        </p:nvSpPr>
        <p:spPr>
          <a:xfrm>
            <a:off x="548630" y="3529582"/>
            <a:ext cx="416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Guest check-in 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548630" y="3803902"/>
            <a:ext cx="4160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8C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Track guest visits separately and tie them to the Black Card member who sponsored them.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